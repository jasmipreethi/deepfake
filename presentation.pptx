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923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72" r:id="rId6"/>
    <p:sldId id="261" r:id="rId7"/>
    <p:sldId id="262" r:id="rId8"/>
    <p:sldId id="263" r:id="rId9"/>
    <p:sldId id="270" r:id="rId10"/>
    <p:sldId id="264" r:id="rId11"/>
    <p:sldId id="271" r:id="rId12"/>
    <p:sldId id="265" r:id="rId13"/>
    <p:sldId id="267" r:id="rId14"/>
    <p:sldId id="273" r:id="rId15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228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685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1143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1600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A71D9E-B20D-BF54-9D3D-4E14A7387D75}" v="87" dt="2026-02-02T09:35:43.5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589"/>
  </p:normalViewPr>
  <p:slideViewPr>
    <p:cSldViewPr snapToGrid="0" snapToObjects="1">
      <p:cViewPr varScale="1">
        <p:scale>
          <a:sx n="119" d="100"/>
          <a:sy n="119" d="100"/>
        </p:scale>
        <p:origin x="21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9FA71D9E-B20D-BF54-9D3D-4E14A7387D75}"/>
    <pc:docChg chg="modSld">
      <pc:chgData name="" userId="" providerId="" clId="Web-{9FA71D9E-B20D-BF54-9D3D-4E14A7387D75}" dt="2026-02-02T09:34:02.253" v="2" actId="20577"/>
      <pc:docMkLst>
        <pc:docMk/>
      </pc:docMkLst>
      <pc:sldChg chg="modSp">
        <pc:chgData name="" userId="" providerId="" clId="Web-{9FA71D9E-B20D-BF54-9D3D-4E14A7387D75}" dt="2026-02-02T09:34:02.253" v="2" actId="20577"/>
        <pc:sldMkLst>
          <pc:docMk/>
          <pc:sldMk cId="398627859" sldId="256"/>
        </pc:sldMkLst>
        <pc:spChg chg="mod">
          <ac:chgData name="" userId="" providerId="" clId="Web-{9FA71D9E-B20D-BF54-9D3D-4E14A7387D75}" dt="2026-02-02T09:34:02.253" v="2" actId="20577"/>
          <ac:spMkLst>
            <pc:docMk/>
            <pc:sldMk cId="398627859" sldId="256"/>
            <ac:spMk id="2" creationId="{00000000-0000-0000-0000-000000000000}"/>
          </ac:spMkLst>
        </pc:spChg>
      </pc:sldChg>
    </pc:docChg>
  </pc:docChgLst>
  <pc:docChgLst>
    <pc:chgData name="Fadi Safieddine" userId="S::fadi@uel.ac.uk::3c2eb6a4-db37-4d9f-9a07-5368a2a49ca2" providerId="AD" clId="Web-{9FA71D9E-B20D-BF54-9D3D-4E14A7387D75}"/>
    <pc:docChg chg="delSld modSld">
      <pc:chgData name="Fadi Safieddine" userId="S::fadi@uel.ac.uk::3c2eb6a4-db37-4d9f-9a07-5368a2a49ca2" providerId="AD" clId="Web-{9FA71D9E-B20D-BF54-9D3D-4E14A7387D75}" dt="2026-02-02T09:35:43.587" v="81" actId="20577"/>
      <pc:docMkLst>
        <pc:docMk/>
      </pc:docMkLst>
      <pc:sldChg chg="modSp">
        <pc:chgData name="Fadi Safieddine" userId="S::fadi@uel.ac.uk::3c2eb6a4-db37-4d9f-9a07-5368a2a49ca2" providerId="AD" clId="Web-{9FA71D9E-B20D-BF54-9D3D-4E14A7387D75}" dt="2026-02-02T09:34:09.176" v="0" actId="20577"/>
        <pc:sldMkLst>
          <pc:docMk/>
          <pc:sldMk cId="398627859" sldId="256"/>
        </pc:sldMkLst>
        <pc:spChg chg="mod">
          <ac:chgData name="Fadi Safieddine" userId="S::fadi@uel.ac.uk::3c2eb6a4-db37-4d9f-9a07-5368a2a49ca2" providerId="AD" clId="Web-{9FA71D9E-B20D-BF54-9D3D-4E14A7387D75}" dt="2026-02-02T09:34:09.176" v="0" actId="20577"/>
          <ac:spMkLst>
            <pc:docMk/>
            <pc:sldMk cId="398627859" sldId="256"/>
            <ac:spMk id="2" creationId="{00000000-0000-0000-0000-000000000000}"/>
          </ac:spMkLst>
        </pc:spChg>
      </pc:sldChg>
      <pc:sldChg chg="modSp">
        <pc:chgData name="Fadi Safieddine" userId="S::fadi@uel.ac.uk::3c2eb6a4-db37-4d9f-9a07-5368a2a49ca2" providerId="AD" clId="Web-{9FA71D9E-B20D-BF54-9D3D-4E14A7387D75}" dt="2026-02-02T09:34:41.334" v="18" actId="20577"/>
        <pc:sldMkLst>
          <pc:docMk/>
          <pc:sldMk cId="86913845" sldId="258"/>
        </pc:sldMkLst>
        <pc:spChg chg="mod">
          <ac:chgData name="Fadi Safieddine" userId="S::fadi@uel.ac.uk::3c2eb6a4-db37-4d9f-9a07-5368a2a49ca2" providerId="AD" clId="Web-{9FA71D9E-B20D-BF54-9D3D-4E14A7387D75}" dt="2026-02-02T09:34:41.334" v="18" actId="20577"/>
          <ac:spMkLst>
            <pc:docMk/>
            <pc:sldMk cId="86913845" sldId="258"/>
            <ac:spMk id="2" creationId="{00000000-0000-0000-0000-000000000000}"/>
          </ac:spMkLst>
        </pc:spChg>
      </pc:sldChg>
      <pc:sldChg chg="del">
        <pc:chgData name="Fadi Safieddine" userId="S::fadi@uel.ac.uk::3c2eb6a4-db37-4d9f-9a07-5368a2a49ca2" providerId="AD" clId="Web-{9FA71D9E-B20D-BF54-9D3D-4E14A7387D75}" dt="2026-02-02T09:34:42.631" v="19"/>
        <pc:sldMkLst>
          <pc:docMk/>
          <pc:sldMk cId="895351668" sldId="259"/>
        </pc:sldMkLst>
      </pc:sldChg>
      <pc:sldChg chg="del">
        <pc:chgData name="Fadi Safieddine" userId="S::fadi@uel.ac.uk::3c2eb6a4-db37-4d9f-9a07-5368a2a49ca2" providerId="AD" clId="Web-{9FA71D9E-B20D-BF54-9D3D-4E14A7387D75}" dt="2026-02-02T09:34:44.287" v="20"/>
        <pc:sldMkLst>
          <pc:docMk/>
          <pc:sldMk cId="2004984325" sldId="260"/>
        </pc:sldMkLst>
      </pc:sldChg>
      <pc:sldChg chg="del">
        <pc:chgData name="Fadi Safieddine" userId="S::fadi@uel.ac.uk::3c2eb6a4-db37-4d9f-9a07-5368a2a49ca2" providerId="AD" clId="Web-{9FA71D9E-B20D-BF54-9D3D-4E14A7387D75}" dt="2026-02-02T09:34:45.459" v="21"/>
        <pc:sldMkLst>
          <pc:docMk/>
          <pc:sldMk cId="1214385185" sldId="261"/>
        </pc:sldMkLst>
      </pc:sldChg>
      <pc:sldChg chg="modSp">
        <pc:chgData name="Fadi Safieddine" userId="S::fadi@uel.ac.uk::3c2eb6a4-db37-4d9f-9a07-5368a2a49ca2" providerId="AD" clId="Web-{9FA71D9E-B20D-BF54-9D3D-4E14A7387D75}" dt="2026-02-02T09:35:43.587" v="81" actId="20577"/>
        <pc:sldMkLst>
          <pc:docMk/>
          <pc:sldMk cId="1921965900" sldId="263"/>
        </pc:sldMkLst>
        <pc:spChg chg="mod">
          <ac:chgData name="Fadi Safieddine" userId="S::fadi@uel.ac.uk::3c2eb6a4-db37-4d9f-9a07-5368a2a49ca2" providerId="AD" clId="Web-{9FA71D9E-B20D-BF54-9D3D-4E14A7387D75}" dt="2026-02-02T09:35:00.585" v="27" actId="20577"/>
          <ac:spMkLst>
            <pc:docMk/>
            <pc:sldMk cId="1921965900" sldId="263"/>
            <ac:spMk id="2" creationId="{00000000-0000-0000-0000-000000000000}"/>
          </ac:spMkLst>
        </pc:spChg>
        <pc:spChg chg="mod">
          <ac:chgData name="Fadi Safieddine" userId="S::fadi@uel.ac.uk::3c2eb6a4-db37-4d9f-9a07-5368a2a49ca2" providerId="AD" clId="Web-{9FA71D9E-B20D-BF54-9D3D-4E14A7387D75}" dt="2026-02-02T09:35:43.587" v="81" actId="20577"/>
          <ac:spMkLst>
            <pc:docMk/>
            <pc:sldMk cId="1921965900" sldId="263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EF76B9-E9FF-774A-9E46-0D0B90BADCBB}" type="datetimeFigureOut">
              <a:rPr lang="en-US" smtClean="0"/>
              <a:t>5/13/26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959FAF-E61A-7A48-A763-A09040C7C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624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959FAF-E61A-7A48-A763-A09040C7CEF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3762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Line"/>
          <p:cNvSpPr/>
          <p:nvPr/>
        </p:nvSpPr>
        <p:spPr>
          <a:xfrm>
            <a:off x="533400" y="3340100"/>
            <a:ext cx="11126338" cy="91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25400" tIns="25400" rIns="25400" bIns="25400" anchor="ctr"/>
          <a:lstStyle/>
          <a:p>
            <a:pPr algn="l" defTabSz="228600">
              <a:defRPr sz="1200"/>
            </a:pPr>
            <a:endParaRPr sz="600"/>
          </a:p>
        </p:txBody>
      </p:sp>
      <p:sp>
        <p:nvSpPr>
          <p:cNvPr id="14" name="Title Text"/>
          <p:cNvSpPr txBox="1">
            <a:spLocks noGrp="1"/>
          </p:cNvSpPr>
          <p:nvPr>
            <p:ph type="title"/>
          </p:nvPr>
        </p:nvSpPr>
        <p:spPr>
          <a:xfrm>
            <a:off x="533400" y="927100"/>
            <a:ext cx="11118850" cy="2235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533400" y="3524250"/>
            <a:ext cx="11118850" cy="71755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FontTx/>
              <a:buNone/>
              <a:defRPr sz="1800"/>
            </a:lvl1pPr>
            <a:lvl2pPr marL="0" indent="114300">
              <a:spcBef>
                <a:spcPts val="0"/>
              </a:spcBef>
              <a:buSzTx/>
              <a:buFontTx/>
              <a:buNone/>
              <a:defRPr sz="1800"/>
            </a:lvl2pPr>
            <a:lvl3pPr marL="0" indent="228600">
              <a:spcBef>
                <a:spcPts val="0"/>
              </a:spcBef>
              <a:buSzTx/>
              <a:buFontTx/>
              <a:buNone/>
              <a:defRPr sz="1800"/>
            </a:lvl3pPr>
            <a:lvl4pPr marL="0" indent="342900">
              <a:spcBef>
                <a:spcPts val="0"/>
              </a:spcBef>
              <a:buSzTx/>
              <a:buFontTx/>
              <a:buNone/>
              <a:defRPr sz="1800"/>
            </a:lvl4pPr>
            <a:lvl5pPr marL="0" indent="457200">
              <a:spcBef>
                <a:spcPts val="0"/>
              </a:spcBef>
              <a:buSzTx/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351B0C85-9CFF-3B42-BE74-68F1856660D0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1CD0D5-FF76-481F-BEA3-056E909F54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816" y="6238333"/>
            <a:ext cx="1363287" cy="602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211519"/>
      </p:ext>
    </p:extLst>
  </p:cSld>
  <p:clrMapOvr>
    <a:masterClrMapping/>
  </p:clrMapOvr>
  <p:transition spd="med"/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itle Text"/>
          <p:cNvSpPr txBox="1">
            <a:spLocks noGrp="1"/>
          </p:cNvSpPr>
          <p:nvPr>
            <p:ph type="title"/>
          </p:nvPr>
        </p:nvSpPr>
        <p:spPr>
          <a:xfrm>
            <a:off x="533400" y="2311400"/>
            <a:ext cx="11118850" cy="2235200"/>
          </a:xfrm>
          <a:prstGeom prst="rect">
            <a:avLst/>
          </a:prstGeom>
        </p:spPr>
        <p:txBody>
          <a:bodyPr anchor="ctr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351B0C85-9CFF-3B42-BE74-68F1856660D0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D0CFCF-026F-41BD-877C-8716D3728C8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816" y="6238333"/>
            <a:ext cx="1363287" cy="602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277597"/>
      </p:ext>
    </p:extLst>
  </p:cSld>
  <p:clrMapOvr>
    <a:masterClrMapping/>
  </p:clrMapOvr>
  <p:transition spd="med"/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351B0C85-9CFF-3B42-BE74-68F185666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995240"/>
      </p:ext>
    </p:extLst>
  </p:cSld>
  <p:clrMapOvr>
    <a:masterClrMapping/>
  </p:clrMapOvr>
  <p:transition spd="med"/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6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351B0C85-9CFF-3B42-BE74-68F185666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40"/>
      </p:ext>
    </p:extLst>
  </p:cSld>
  <p:clrMapOvr>
    <a:masterClrMapping/>
  </p:clrMapOvr>
  <p:transition spd="med"/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Line"/>
          <p:cNvSpPr/>
          <p:nvPr/>
        </p:nvSpPr>
        <p:spPr>
          <a:xfrm>
            <a:off x="533400" y="1384300"/>
            <a:ext cx="4756306" cy="93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25400" tIns="25400" rIns="25400" bIns="25400" anchor="ctr"/>
          <a:lstStyle/>
          <a:p>
            <a:pPr algn="l" defTabSz="228600">
              <a:defRPr sz="1200"/>
            </a:pPr>
            <a:endParaRPr sz="600"/>
          </a:p>
        </p:txBody>
      </p:sp>
      <p:sp>
        <p:nvSpPr>
          <p:cNvPr id="75" name="Image"/>
          <p:cNvSpPr>
            <a:spLocks noGrp="1"/>
          </p:cNvSpPr>
          <p:nvPr>
            <p:ph type="pic" idx="13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r>
              <a:rPr lang="en-US"/>
              <a:t>Click icon to add picture</a:t>
            </a:r>
            <a:endParaRPr/>
          </a:p>
        </p:txBody>
      </p:sp>
      <p:sp>
        <p:nvSpPr>
          <p:cNvPr id="76" name="Title Text"/>
          <p:cNvSpPr txBox="1">
            <a:spLocks noGrp="1"/>
          </p:cNvSpPr>
          <p:nvPr>
            <p:ph type="title"/>
          </p:nvPr>
        </p:nvSpPr>
        <p:spPr>
          <a:xfrm>
            <a:off x="533400" y="234950"/>
            <a:ext cx="4762500" cy="984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33400" y="1562100"/>
            <a:ext cx="4762500" cy="4686300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2100"/>
              </a:spcBef>
              <a:defRPr sz="1800"/>
            </a:lvl1pPr>
            <a:lvl2pPr marL="457200" indent="-228600">
              <a:spcBef>
                <a:spcPts val="2100"/>
              </a:spcBef>
              <a:defRPr sz="1800"/>
            </a:lvl2pPr>
            <a:lvl3pPr marL="685800" indent="-228600">
              <a:spcBef>
                <a:spcPts val="2100"/>
              </a:spcBef>
              <a:defRPr sz="1800"/>
            </a:lvl3pPr>
            <a:lvl4pPr marL="914400" indent="-228600">
              <a:spcBef>
                <a:spcPts val="2100"/>
              </a:spcBef>
              <a:defRPr sz="1800"/>
            </a:lvl4pPr>
            <a:lvl5pPr marL="1143000" indent="-228600">
              <a:spcBef>
                <a:spcPts val="21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78822" y="6439108"/>
            <a:ext cx="243656" cy="241092"/>
          </a:xfrm>
          <a:prstGeom prst="rect">
            <a:avLst/>
          </a:prstGeom>
        </p:spPr>
        <p:txBody>
          <a:bodyPr/>
          <a:lstStyle>
            <a:lvl1pPr algn="l"/>
          </a:lstStyle>
          <a:p>
            <a:fld id="{351B0C85-9CFF-3B42-BE74-68F1856660D0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853E92E-F1D0-4772-B61D-A6CDF71DF6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90" y="6234657"/>
            <a:ext cx="1371600" cy="606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181655"/>
      </p:ext>
    </p:extLst>
  </p:cSld>
  <p:clrMapOvr>
    <a:masterClrMapping/>
  </p:clrMapOvr>
  <p:transition spd="med"/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Body Level One…"/>
          <p:cNvSpPr txBox="1">
            <a:spLocks noGrp="1"/>
          </p:cNvSpPr>
          <p:nvPr>
            <p:ph type="body" idx="1"/>
          </p:nvPr>
        </p:nvSpPr>
        <p:spPr>
          <a:xfrm>
            <a:off x="831850" y="622300"/>
            <a:ext cx="10515600" cy="56007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351B0C85-9CFF-3B42-BE74-68F1856660D0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D907DE-94A5-4512-A76B-5E0B9B1006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816" y="6238333"/>
            <a:ext cx="1363287" cy="602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79209"/>
      </p:ext>
    </p:extLst>
  </p:cSld>
  <p:clrMapOvr>
    <a:masterClrMapping/>
  </p:clrMapOvr>
  <p:transition spd="med"/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–Johnny Appleseed"/>
          <p:cNvSpPr txBox="1">
            <a:spLocks noGrp="1"/>
          </p:cNvSpPr>
          <p:nvPr>
            <p:ph type="body" sz="quarter" idx="13"/>
          </p:nvPr>
        </p:nvSpPr>
        <p:spPr>
          <a:xfrm>
            <a:off x="1193800" y="4476750"/>
            <a:ext cx="9810750" cy="37959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 defTabSz="323850">
              <a:spcBef>
                <a:spcPts val="0"/>
              </a:spcBef>
              <a:buSzTx/>
              <a:buFontTx/>
              <a:buNone/>
              <a:defRPr sz="180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0" name="“Type a quote here.”"/>
          <p:cNvSpPr txBox="1">
            <a:spLocks noGrp="1"/>
          </p:cNvSpPr>
          <p:nvPr>
            <p:ph type="body" sz="quarter" idx="14"/>
          </p:nvPr>
        </p:nvSpPr>
        <p:spPr>
          <a:xfrm>
            <a:off x="1193800" y="3000336"/>
            <a:ext cx="9810750" cy="533479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 defTabSz="323850">
              <a:spcBef>
                <a:spcPts val="1700"/>
              </a:spcBef>
              <a:buSzTx/>
              <a:buFontTx/>
              <a:buNone/>
              <a:defRPr sz="2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351B0C85-9CFF-3B42-BE74-68F1856660D0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FE6699-BDEF-4CA2-9B80-9B6702B0A2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816" y="6238333"/>
            <a:ext cx="1363287" cy="602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699915"/>
      </p:ext>
    </p:extLst>
  </p:cSld>
  <p:clrMapOvr>
    <a:masterClrMapping/>
  </p:clrMapOvr>
  <p:transition spd="med"/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Image"/>
          <p:cNvSpPr>
            <a:spLocks noGrp="1"/>
          </p:cNvSpPr>
          <p:nvPr>
            <p:ph type="pic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r>
              <a:rPr lang="en-US"/>
              <a:t>Click icon to add picture</a:t>
            </a:r>
            <a:endParaRPr/>
          </a:p>
        </p:txBody>
      </p:sp>
      <p:sp>
        <p:nvSpPr>
          <p:cNvPr id="12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351B0C85-9CFF-3B42-BE74-68F185666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170675"/>
      </p:ext>
    </p:extLst>
  </p:cSld>
  <p:clrMapOvr>
    <a:masterClrMapping/>
  </p:clrMapOvr>
  <p:transition spd="med"/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351B0C85-9CFF-3B42-BE74-68F185666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058806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Line"/>
          <p:cNvSpPr/>
          <p:nvPr/>
        </p:nvSpPr>
        <p:spPr>
          <a:xfrm>
            <a:off x="533400" y="1384300"/>
            <a:ext cx="4756306" cy="93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25400" tIns="25400" rIns="25400" bIns="25400" anchor="ctr"/>
          <a:lstStyle/>
          <a:p>
            <a:pPr algn="l" defTabSz="228600">
              <a:defRPr sz="1200"/>
            </a:pPr>
            <a:endParaRPr sz="600"/>
          </a:p>
        </p:txBody>
      </p:sp>
      <p:sp>
        <p:nvSpPr>
          <p:cNvPr id="135" name="Image"/>
          <p:cNvSpPr>
            <a:spLocks noGrp="1"/>
          </p:cNvSpPr>
          <p:nvPr>
            <p:ph type="pic" idx="13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r>
              <a:rPr lang="en-US"/>
              <a:t>Click icon to add picture</a:t>
            </a:r>
            <a:endParaRPr/>
          </a:p>
        </p:txBody>
      </p:sp>
      <p:sp>
        <p:nvSpPr>
          <p:cNvPr id="136" name="Title Text"/>
          <p:cNvSpPr txBox="1">
            <a:spLocks noGrp="1"/>
          </p:cNvSpPr>
          <p:nvPr>
            <p:ph type="title"/>
          </p:nvPr>
        </p:nvSpPr>
        <p:spPr>
          <a:xfrm>
            <a:off x="533400" y="234950"/>
            <a:ext cx="4762500" cy="984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33400" y="1562100"/>
            <a:ext cx="4762500" cy="4686300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2100"/>
              </a:spcBef>
              <a:defRPr sz="1800"/>
            </a:lvl1pPr>
            <a:lvl2pPr marL="457200" indent="-228600">
              <a:spcBef>
                <a:spcPts val="2100"/>
              </a:spcBef>
              <a:defRPr sz="1800"/>
            </a:lvl2pPr>
            <a:lvl3pPr marL="685800" indent="-228600">
              <a:spcBef>
                <a:spcPts val="2100"/>
              </a:spcBef>
              <a:defRPr sz="1800"/>
            </a:lvl3pPr>
            <a:lvl4pPr marL="914400" indent="-228600">
              <a:spcBef>
                <a:spcPts val="2100"/>
              </a:spcBef>
              <a:defRPr sz="1800"/>
            </a:lvl4pPr>
            <a:lvl5pPr marL="1143000" indent="-228600">
              <a:spcBef>
                <a:spcPts val="21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3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81830" y="6463205"/>
            <a:ext cx="243656" cy="241092"/>
          </a:xfrm>
          <a:prstGeom prst="rect">
            <a:avLst/>
          </a:prstGeom>
        </p:spPr>
        <p:txBody>
          <a:bodyPr/>
          <a:lstStyle>
            <a:lvl1pPr algn="l"/>
          </a:lstStyle>
          <a:p>
            <a:fld id="{351B0C85-9CFF-3B42-BE74-68F1856660D0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FA9856-2535-4FBE-87B5-51B781F31E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816" y="6238333"/>
            <a:ext cx="1363287" cy="602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994640"/>
      </p:ext>
    </p:extLst>
  </p:cSld>
  <p:clrMapOvr>
    <a:masterClrMapping/>
  </p:clrMapOvr>
  <p:transition spd="med"/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4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351B0C85-9CFF-3B42-BE74-68F185666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797495"/>
      </p:ext>
    </p:extLst>
  </p:cSld>
  <p:clrMapOvr>
    <a:masterClrMapping/>
  </p:clrMapOvr>
  <p:transition spd="med"/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2_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Line"/>
          <p:cNvSpPr/>
          <p:nvPr/>
        </p:nvSpPr>
        <p:spPr>
          <a:xfrm>
            <a:off x="533400" y="1384300"/>
            <a:ext cx="4756306" cy="93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25400" tIns="25400" rIns="25400" bIns="25400" anchor="ctr"/>
          <a:lstStyle/>
          <a:p>
            <a:pPr algn="l" defTabSz="228600">
              <a:defRPr sz="1200"/>
            </a:pPr>
            <a:endParaRPr sz="600"/>
          </a:p>
        </p:txBody>
      </p:sp>
      <p:sp>
        <p:nvSpPr>
          <p:cNvPr id="156" name="Image"/>
          <p:cNvSpPr>
            <a:spLocks noGrp="1"/>
          </p:cNvSpPr>
          <p:nvPr>
            <p:ph type="pic" idx="13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r>
              <a:rPr lang="en-US"/>
              <a:t>Click icon to add picture</a:t>
            </a:r>
            <a:endParaRPr/>
          </a:p>
        </p:txBody>
      </p:sp>
      <p:sp>
        <p:nvSpPr>
          <p:cNvPr id="157" name="Title Text"/>
          <p:cNvSpPr txBox="1">
            <a:spLocks noGrp="1"/>
          </p:cNvSpPr>
          <p:nvPr>
            <p:ph type="title"/>
          </p:nvPr>
        </p:nvSpPr>
        <p:spPr>
          <a:xfrm>
            <a:off x="533400" y="234950"/>
            <a:ext cx="4762500" cy="984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8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33400" y="1562100"/>
            <a:ext cx="4762500" cy="4686300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2100"/>
              </a:spcBef>
              <a:defRPr sz="1800"/>
            </a:lvl1pPr>
            <a:lvl2pPr marL="457200" indent="-228600">
              <a:spcBef>
                <a:spcPts val="2100"/>
              </a:spcBef>
              <a:defRPr sz="1800"/>
            </a:lvl2pPr>
            <a:lvl3pPr marL="685800" indent="-228600">
              <a:spcBef>
                <a:spcPts val="2100"/>
              </a:spcBef>
              <a:defRPr sz="1800"/>
            </a:lvl3pPr>
            <a:lvl4pPr marL="914400" indent="-228600">
              <a:spcBef>
                <a:spcPts val="2100"/>
              </a:spcBef>
              <a:defRPr sz="1800"/>
            </a:lvl4pPr>
            <a:lvl5pPr marL="1143000" indent="-228600">
              <a:spcBef>
                <a:spcPts val="21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5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78822" y="6439108"/>
            <a:ext cx="243656" cy="241092"/>
          </a:xfrm>
          <a:prstGeom prst="rect">
            <a:avLst/>
          </a:prstGeom>
        </p:spPr>
        <p:txBody>
          <a:bodyPr/>
          <a:lstStyle>
            <a:lvl1pPr algn="l"/>
          </a:lstStyle>
          <a:p>
            <a:fld id="{351B0C85-9CFF-3B42-BE74-68F185666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609348"/>
      </p:ext>
    </p:extLst>
  </p:cSld>
  <p:clrMapOvr>
    <a:masterClrMapping/>
  </p:clrMapOvr>
  <p:transition spd="med"/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67A28-D9CD-B14B-9065-E6FA59CC39B1}" type="datetime1">
              <a:rPr lang="en-GB" smtClean="0"/>
              <a:t>13/05/2026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B0C85-9CFF-3B42-BE74-68F185666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17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"/>
          <p:cNvSpPr/>
          <p:nvPr/>
        </p:nvSpPr>
        <p:spPr>
          <a:xfrm>
            <a:off x="533400" y="1384300"/>
            <a:ext cx="11126349" cy="91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25400" tIns="25400" rIns="25400" bIns="25400" anchor="ctr"/>
          <a:lstStyle/>
          <a:p>
            <a:pPr algn="l" defTabSz="228600">
              <a:defRPr sz="1200"/>
            </a:pPr>
            <a:endParaRPr sz="600"/>
          </a:p>
        </p:txBody>
      </p:sp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533400" y="234950"/>
            <a:ext cx="11118850" cy="984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b">
            <a:normAutofit/>
          </a:bodyPr>
          <a:lstStyle/>
          <a:p>
            <a:r>
              <a:t>Title Text</a:t>
            </a:r>
          </a:p>
        </p:txBody>
      </p:sp>
      <p:sp>
        <p:nvSpPr>
          <p:cNvPr id="5" name="Body Level One…"/>
          <p:cNvSpPr txBox="1">
            <a:spLocks noGrp="1"/>
          </p:cNvSpPr>
          <p:nvPr>
            <p:ph type="body" idx="1"/>
          </p:nvPr>
        </p:nvSpPr>
        <p:spPr>
          <a:xfrm>
            <a:off x="533400" y="1562100"/>
            <a:ext cx="11118850" cy="4686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548707" y="6439108"/>
            <a:ext cx="243656" cy="24109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r">
              <a:defRPr sz="900"/>
            </a:lvl1pPr>
          </a:lstStyle>
          <a:p>
            <a:fld id="{351B0C85-9CFF-3B42-BE74-68F1856660D0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EB1488-890D-434D-890C-7C7C181637F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816" y="6238333"/>
            <a:ext cx="1363287" cy="602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772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4" r:id="rId1"/>
    <p:sldLayoutId id="2147483925" r:id="rId2"/>
    <p:sldLayoutId id="2147483926" r:id="rId3"/>
    <p:sldLayoutId id="2147483927" r:id="rId4"/>
    <p:sldLayoutId id="2147483928" r:id="rId5"/>
    <p:sldLayoutId id="2147483929" r:id="rId6"/>
    <p:sldLayoutId id="2147483931" r:id="rId7"/>
    <p:sldLayoutId id="2147483932" r:id="rId8"/>
    <p:sldLayoutId id="2147483933" r:id="rId9"/>
    <p:sldLayoutId id="2147483934" r:id="rId10"/>
    <p:sldLayoutId id="2147483935" r:id="rId11"/>
    <p:sldLayoutId id="2147483936" r:id="rId12"/>
    <p:sldLayoutId id="2147483937" r:id="rId13"/>
  </p:sldLayoutIdLst>
  <p:transition spd="med"/>
  <p:hf hdr="0" ftr="0" dt="0"/>
  <p:txStyles>
    <p:titleStyle>
      <a:lvl1pPr marL="0" marR="0" indent="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11430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22860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34290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45720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57150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68580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80010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91440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317500" marR="0" indent="-317500" algn="l" defTabSz="412750" rtl="0" eaLnBrk="1" latinLnBrk="0" hangingPunct="1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 typeface="Helvetica Neue"/>
        <a:buChar char="•"/>
        <a:tabLst/>
        <a:defRPr sz="25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"/>
        </a:defRPr>
      </a:lvl1pPr>
      <a:lvl2pPr marL="635000" marR="0" indent="-317500" algn="l" defTabSz="412750" rtl="0" eaLnBrk="1" latinLnBrk="0" hangingPunct="1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 typeface="Helvetica Neue"/>
        <a:buChar char="•"/>
        <a:tabLst/>
        <a:defRPr sz="25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"/>
        </a:defRPr>
      </a:lvl2pPr>
      <a:lvl3pPr marL="952500" marR="0" indent="-317500" algn="l" defTabSz="412750" rtl="0" eaLnBrk="1" latinLnBrk="0" hangingPunct="1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 typeface="Helvetica Neue"/>
        <a:buChar char="•"/>
        <a:tabLst/>
        <a:defRPr sz="25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"/>
        </a:defRPr>
      </a:lvl3pPr>
      <a:lvl4pPr marL="1270000" marR="0" indent="-317500" algn="l" defTabSz="412750" rtl="0" eaLnBrk="1" latinLnBrk="0" hangingPunct="1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 typeface="Helvetica Neue"/>
        <a:buChar char="•"/>
        <a:tabLst/>
        <a:defRPr sz="25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"/>
        </a:defRPr>
      </a:lvl4pPr>
      <a:lvl5pPr marL="1587500" marR="0" indent="-317500" algn="l" defTabSz="412750" rtl="0" eaLnBrk="1" latinLnBrk="0" hangingPunct="1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 typeface="Helvetica Neue"/>
        <a:buChar char="•"/>
        <a:tabLst/>
        <a:defRPr sz="25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"/>
        </a:defRPr>
      </a:lvl5pPr>
      <a:lvl6pPr marL="1905000" marR="0" indent="-317500" algn="l" defTabSz="412750" rtl="0" eaLnBrk="1" latinLnBrk="0" hangingPunct="1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 typeface="Helvetica Neue"/>
        <a:buChar char="•"/>
        <a:tabLst/>
        <a:defRPr sz="25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"/>
        </a:defRPr>
      </a:lvl6pPr>
      <a:lvl7pPr marL="2222500" marR="0" indent="-317500" algn="l" defTabSz="412750" rtl="0" eaLnBrk="1" latinLnBrk="0" hangingPunct="1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 typeface="Helvetica Neue"/>
        <a:buChar char="•"/>
        <a:tabLst/>
        <a:defRPr sz="25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"/>
        </a:defRPr>
      </a:lvl7pPr>
      <a:lvl8pPr marL="2540000" marR="0" indent="-317500" algn="l" defTabSz="412750" rtl="0" eaLnBrk="1" latinLnBrk="0" hangingPunct="1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 typeface="Helvetica Neue"/>
        <a:buChar char="•"/>
        <a:tabLst/>
        <a:defRPr sz="25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"/>
        </a:defRPr>
      </a:lvl8pPr>
      <a:lvl9pPr marL="2857500" marR="0" indent="-317500" algn="l" defTabSz="412750" rtl="0" eaLnBrk="1" latinLnBrk="0" hangingPunct="1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 typeface="Helvetica Neue"/>
        <a:buChar char="•"/>
        <a:tabLst/>
        <a:defRPr sz="2500" b="0" i="0" u="none" strike="noStrike" cap="none" spc="0" baseline="0">
          <a:ln>
            <a:noFill/>
          </a:ln>
          <a:solidFill>
            <a:srgbClr val="747474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r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114300" algn="r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228600" algn="r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342900" algn="r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457200" algn="r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571500" algn="r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685800" algn="r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800100" algn="r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914400" algn="r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927100"/>
            <a:ext cx="11118850" cy="1170641"/>
          </a:xfrm>
        </p:spPr>
        <p:txBody>
          <a:bodyPr>
            <a:normAutofit/>
          </a:bodyPr>
          <a:lstStyle/>
          <a:p>
            <a:r>
              <a:rPr sz="3200" b="1" dirty="0">
                <a:solidFill>
                  <a:srgbClr val="0070C0"/>
                </a:solidFill>
                <a:latin typeface="Helvetica Neue"/>
              </a:rPr>
              <a:t>Viva: </a:t>
            </a:r>
            <a:r>
              <a:rPr sz="3200" b="1" dirty="0">
                <a:solidFill>
                  <a:srgbClr val="000000"/>
                </a:solidFill>
                <a:latin typeface="Helvetica Neue"/>
              </a:rPr>
              <a:t>Deepfake Detection Using Cross-Model Transformer Fusion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body" sz="quarter" idx="1"/>
          </p:nvPr>
        </p:nvSpPr>
        <p:spPr>
          <a:xfrm>
            <a:off x="533400" y="2711367"/>
            <a:ext cx="11508346" cy="1672375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sz="2400" b="0" dirty="0">
                <a:solidFill>
                  <a:srgbClr val="000000"/>
                </a:solidFill>
                <a:latin typeface="Helvetica Neue"/>
              </a:rPr>
              <a:t>Jasmi Preethi Alasapuri</a:t>
            </a:r>
          </a:p>
          <a:p>
            <a:pPr algn="l"/>
            <a:r>
              <a:rPr sz="2400" b="0" dirty="0">
                <a:solidFill>
                  <a:srgbClr val="000000"/>
                </a:solidFill>
                <a:latin typeface="Helvetica Neue"/>
              </a:rPr>
              <a:t>2571395</a:t>
            </a:r>
          </a:p>
          <a:p>
            <a:pPr algn="l"/>
            <a:endParaRPr sz="2400" b="0" dirty="0">
              <a:solidFill>
                <a:srgbClr val="000000"/>
              </a:solidFill>
              <a:latin typeface="Helvetica Neue"/>
            </a:endParaRPr>
          </a:p>
          <a:p>
            <a:pPr algn="l"/>
            <a:r>
              <a:rPr sz="2400" b="0" dirty="0">
                <a:solidFill>
                  <a:srgbClr val="000000"/>
                </a:solidFill>
                <a:latin typeface="Helvetica Neue"/>
              </a:rPr>
              <a:t>Supervisor: Lucian Duta</a:t>
            </a:r>
          </a:p>
          <a:p>
            <a:pPr algn="l"/>
            <a:endParaRPr sz="2400" b="0" dirty="0">
              <a:solidFill>
                <a:srgbClr val="000000"/>
              </a:solidFill>
              <a:latin typeface="Helvetica Neue"/>
            </a:endParaRPr>
          </a:p>
          <a:p>
            <a:pPr algn="l"/>
            <a:r>
              <a:rPr sz="2100" b="0" dirty="0">
                <a:solidFill>
                  <a:srgbClr val="000000"/>
                </a:solidFill>
                <a:latin typeface="Helvetica Neue"/>
              </a:rPr>
              <a:t>BSc (Hons) Data Science and Artificial Intelligence</a:t>
            </a:r>
          </a:p>
          <a:p>
            <a:pPr algn="l"/>
            <a:r>
              <a:rPr sz="2100" b="0" dirty="0">
                <a:solidFill>
                  <a:srgbClr val="000000"/>
                </a:solidFill>
                <a:latin typeface="Helvetica Neue"/>
              </a:rPr>
              <a:t>CN6000 Dissertation 2026</a:t>
            </a:r>
          </a:p>
        </p:txBody>
      </p:sp>
    </p:spTree>
    <p:extLst>
      <p:ext uri="{BB962C8B-B14F-4D97-AF65-F5344CB8AC3E}">
        <p14:creationId xmlns:p14="http://schemas.microsoft.com/office/powerpoint/2010/main" val="39862785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b="1" dirty="0">
                <a:solidFill>
                  <a:srgbClr val="1A1A2E"/>
                </a:solidFill>
                <a:latin typeface="Helvetica Neue"/>
              </a:rPr>
              <a:t>The Problem — Why Deepfake Detection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sz="1800" b="0" dirty="0">
                <a:solidFill>
                  <a:srgbClr val="000000"/>
                </a:solidFill>
                <a:latin typeface="Helvetica Neue"/>
              </a:rPr>
              <a:t>	</a:t>
            </a:r>
            <a:r>
              <a:rPr sz="1800" b="0" dirty="0">
                <a:solidFill>
                  <a:srgbClr val="000000"/>
                </a:solidFill>
                <a:latin typeface="Helvetica Neue"/>
              </a:rPr>
              <a:t>AI-generated synthetic media is eroding trust in digital evidence across law, politics, finance, and </a:t>
            </a:r>
            <a:r>
              <a:rPr lang="en-US" sz="1800" b="0" dirty="0">
                <a:solidFill>
                  <a:srgbClr val="000000"/>
                </a:solidFill>
                <a:latin typeface="Helvetica Neue"/>
              </a:rPr>
              <a:t>	</a:t>
            </a:r>
            <a:r>
              <a:rPr sz="1800" b="0" dirty="0">
                <a:solidFill>
                  <a:srgbClr val="000000"/>
                </a:solidFill>
                <a:latin typeface="Helvetica Neue"/>
              </a:rPr>
              <a:t>journalism</a:t>
            </a:r>
            <a:endParaRPr lang="en-US" sz="1800" dirty="0">
              <a:solidFill>
                <a:srgbClr val="000000"/>
              </a:solidFill>
              <a:latin typeface="Helvetica Neue"/>
            </a:endParaRPr>
          </a:p>
          <a:p>
            <a:pPr marL="0" indent="0" algn="l">
              <a:buNone/>
            </a:pPr>
            <a:r>
              <a:rPr lang="en-GB" sz="1800" b="1" dirty="0">
                <a:solidFill>
                  <a:srgbClr val="000000"/>
                </a:solidFill>
                <a:latin typeface="Helvetica Neue"/>
              </a:rPr>
              <a:t>	</a:t>
            </a:r>
            <a:r>
              <a:rPr sz="2000" b="1" dirty="0">
                <a:solidFill>
                  <a:srgbClr val="0070C0"/>
                </a:solidFill>
                <a:latin typeface="Helvetica Neue"/>
              </a:rPr>
              <a:t>Real-world incidents:</a:t>
            </a:r>
          </a:p>
          <a:p>
            <a:pPr marL="0" indent="0" algn="l">
              <a:buNone/>
            </a:pPr>
            <a:r>
              <a:rPr lang="en-US" sz="1600" dirty="0">
                <a:solidFill>
                  <a:srgbClr val="000000"/>
                </a:solidFill>
                <a:latin typeface="Helvetica Neue"/>
              </a:rPr>
              <a:t>	</a:t>
            </a:r>
            <a:r>
              <a:rPr sz="1600" b="0" dirty="0">
                <a:solidFill>
                  <a:srgbClr val="000000"/>
                </a:solidFill>
                <a:latin typeface="Helvetica Neue"/>
              </a:rPr>
              <a:t> • £20M corporate fraud via deepfake video call (Arup, 2024)</a:t>
            </a:r>
          </a:p>
          <a:p>
            <a:pPr marL="0" indent="0" algn="l">
              <a:buNone/>
            </a:pPr>
            <a:r>
              <a:rPr lang="en-US" sz="1600" dirty="0">
                <a:solidFill>
                  <a:srgbClr val="000000"/>
                </a:solidFill>
                <a:latin typeface="Helvetica Neue"/>
              </a:rPr>
              <a:t>	</a:t>
            </a:r>
            <a:r>
              <a:rPr sz="1600" b="0" dirty="0">
                <a:solidFill>
                  <a:srgbClr val="000000"/>
                </a:solidFill>
                <a:latin typeface="Helvetica Neue"/>
              </a:rPr>
              <a:t> • Political deepfakes used for disinformation (Zelenskyy, 2022)</a:t>
            </a:r>
          </a:p>
          <a:p>
            <a:pPr marL="0" indent="0" algn="l">
              <a:buNone/>
            </a:pPr>
            <a:r>
              <a:rPr lang="en-US" sz="1600" dirty="0">
                <a:solidFill>
                  <a:srgbClr val="000000"/>
                </a:solidFill>
                <a:latin typeface="Helvetica Neue"/>
              </a:rPr>
              <a:t>	</a:t>
            </a:r>
            <a:r>
              <a:rPr sz="1600" b="0" dirty="0">
                <a:solidFill>
                  <a:srgbClr val="000000"/>
                </a:solidFill>
                <a:latin typeface="Helvetica Neue"/>
              </a:rPr>
              <a:t>• AI kidnapping &amp; impersonation scams (FBI, 2025)</a:t>
            </a:r>
            <a:endParaRPr lang="en-GB" sz="1600" b="0" dirty="0">
              <a:solidFill>
                <a:srgbClr val="000000"/>
              </a:solidFill>
              <a:latin typeface="Helvetica Neue"/>
            </a:endParaRPr>
          </a:p>
          <a:p>
            <a:pPr marL="0" indent="0" algn="l">
              <a:buNone/>
            </a:pPr>
            <a:r>
              <a:rPr lang="en-GB" sz="1600" b="0" dirty="0">
                <a:solidFill>
                  <a:srgbClr val="000000"/>
                </a:solidFill>
                <a:latin typeface="Helvetica Neue"/>
              </a:rPr>
              <a:t>	Multimodal deepfakes — manipulating both audio and video — are the hardest to detect. Current systems are 	vision-centric and fail to capture fine-grained temporal relationships between speech and lip motion.</a:t>
            </a:r>
          </a:p>
          <a:p>
            <a:pPr marL="0" indent="0" algn="l">
              <a:buNone/>
            </a:pPr>
            <a:r>
              <a:rPr lang="en-US" sz="1400" b="1" dirty="0">
                <a:solidFill>
                  <a:srgbClr val="0070C0"/>
                </a:solidFill>
                <a:latin typeface="Helvetica Neue"/>
              </a:rPr>
              <a:t>	</a:t>
            </a:r>
            <a:r>
              <a:rPr sz="1400" b="1" dirty="0">
                <a:solidFill>
                  <a:srgbClr val="0070C0"/>
                </a:solidFill>
                <a:latin typeface="Helvetica Neue"/>
              </a:rPr>
              <a:t>Computing challenge: </a:t>
            </a:r>
            <a:r>
              <a:rPr sz="1400" dirty="0">
                <a:solidFill>
                  <a:schemeClr val="tx1"/>
                </a:solidFill>
                <a:latin typeface="Helvetica Neue"/>
              </a:rPr>
              <a:t>Process 1.4 TB video data, train a 50M-parameter neural network, build real-time inference.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b="1" dirty="0">
                <a:solidFill>
                  <a:srgbClr val="1A1A2E"/>
                </a:solidFill>
                <a:latin typeface="Helvetica Neue"/>
              </a:rPr>
              <a:t>Project Aims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70C0"/>
                </a:solidFill>
                <a:latin typeface="Helvetica Neue"/>
              </a:rPr>
              <a:t>	</a:t>
            </a:r>
            <a:r>
              <a:rPr sz="2000" b="1" dirty="0">
                <a:solidFill>
                  <a:srgbClr val="0070C0"/>
                </a:solidFill>
                <a:latin typeface="Helvetica Neue"/>
              </a:rPr>
              <a:t>Aim: </a:t>
            </a:r>
            <a:r>
              <a:rPr sz="2000" dirty="0">
                <a:solidFill>
                  <a:schemeClr val="tx1"/>
                </a:solidFill>
                <a:latin typeface="Helvetica Neue"/>
              </a:rPr>
              <a:t>A multimodal deepfake detection system to distinguish real from manipulated audio-</a:t>
            </a:r>
            <a:r>
              <a:rPr lang="en-US" sz="2000" dirty="0">
                <a:solidFill>
                  <a:schemeClr val="tx1"/>
                </a:solidFill>
                <a:latin typeface="Helvetica Neue"/>
              </a:rPr>
              <a:t>	</a:t>
            </a:r>
            <a:r>
              <a:rPr sz="2000" dirty="0">
                <a:solidFill>
                  <a:schemeClr val="tx1"/>
                </a:solidFill>
                <a:latin typeface="Helvetica Neue"/>
              </a:rPr>
              <a:t>visual</a:t>
            </a:r>
            <a:r>
              <a:rPr lang="en-US" sz="2000" dirty="0">
                <a:solidFill>
                  <a:schemeClr val="tx1"/>
                </a:solidFill>
                <a:latin typeface="Helvetica Neue"/>
              </a:rPr>
              <a:t> </a:t>
            </a:r>
            <a:r>
              <a:rPr sz="2000" dirty="0">
                <a:solidFill>
                  <a:schemeClr val="tx1"/>
                </a:solidFill>
                <a:latin typeface="Helvetica Neue"/>
              </a:rPr>
              <a:t>media.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1A1A2E"/>
                </a:solidFill>
                <a:latin typeface="Helvetica Neue"/>
              </a:rPr>
              <a:t>	</a:t>
            </a:r>
            <a:r>
              <a:rPr sz="2000" b="1" dirty="0">
                <a:solidFill>
                  <a:srgbClr val="1A1A2E"/>
                </a:solidFill>
                <a:latin typeface="Helvetica Neue"/>
              </a:rPr>
              <a:t>Six Objectives</a:t>
            </a:r>
            <a:r>
              <a:rPr lang="en-GB" sz="2000" b="1" dirty="0">
                <a:solidFill>
                  <a:srgbClr val="1A1A2E"/>
                </a:solidFill>
                <a:latin typeface="Helvetica Neue"/>
              </a:rPr>
              <a:t>:</a:t>
            </a:r>
          </a:p>
          <a:p>
            <a:pPr marL="0" indent="0" algn="l">
              <a:lnSpc>
                <a:spcPct val="50000"/>
              </a:lnSpc>
              <a:spcBef>
                <a:spcPts val="1800"/>
              </a:spcBef>
              <a:buNone/>
            </a:pPr>
            <a:r>
              <a:rPr lang="en-GB" sz="1700" b="0" dirty="0">
                <a:solidFill>
                  <a:srgbClr val="000000"/>
                </a:solidFill>
                <a:latin typeface="Helvetica Neue"/>
              </a:rPr>
              <a:t>	1. Literature review on deepfake generation &amp; detection techniques	</a:t>
            </a:r>
          </a:p>
          <a:p>
            <a:pPr marL="0" indent="0" algn="l">
              <a:lnSpc>
                <a:spcPct val="50000"/>
              </a:lnSpc>
              <a:spcBef>
                <a:spcPts val="1800"/>
              </a:spcBef>
              <a:buNone/>
            </a:pPr>
            <a:r>
              <a:rPr lang="en-US" sz="1700" b="0" dirty="0">
                <a:solidFill>
                  <a:srgbClr val="000000"/>
                </a:solidFill>
                <a:latin typeface="Helvetica Neue"/>
              </a:rPr>
              <a:t>	</a:t>
            </a:r>
            <a:r>
              <a:rPr sz="1700" b="0" dirty="0">
                <a:solidFill>
                  <a:srgbClr val="000000"/>
                </a:solidFill>
                <a:latin typeface="Helvetica Neue"/>
              </a:rPr>
              <a:t>2. </a:t>
            </a:r>
            <a:r>
              <a:rPr sz="1700" b="0" dirty="0" err="1">
                <a:solidFill>
                  <a:srgbClr val="000000"/>
                </a:solidFill>
                <a:latin typeface="Helvetica Neue"/>
              </a:rPr>
              <a:t>Analyse</a:t>
            </a:r>
            <a:r>
              <a:rPr sz="1700" b="0" dirty="0">
                <a:solidFill>
                  <a:srgbClr val="000000"/>
                </a:solidFill>
                <a:latin typeface="Helvetica Neue"/>
              </a:rPr>
              <a:t> real-world impacts across sectors; identify gaps in current solutions</a:t>
            </a:r>
            <a:endParaRPr lang="en-US" sz="1700" b="0" dirty="0">
              <a:solidFill>
                <a:srgbClr val="000000"/>
              </a:solidFill>
              <a:latin typeface="Helvetica Neue"/>
            </a:endParaRPr>
          </a:p>
          <a:p>
            <a:pPr marL="0" indent="0" algn="l">
              <a:lnSpc>
                <a:spcPct val="50000"/>
              </a:lnSpc>
              <a:spcBef>
                <a:spcPts val="1800"/>
              </a:spcBef>
              <a:buNone/>
            </a:pPr>
            <a:r>
              <a:rPr lang="en-US" sz="1700" b="0" dirty="0">
                <a:solidFill>
                  <a:srgbClr val="000000"/>
                </a:solidFill>
                <a:latin typeface="Helvetica Neue"/>
              </a:rPr>
              <a:t>	</a:t>
            </a:r>
            <a:r>
              <a:rPr sz="1700" b="0" dirty="0">
                <a:solidFill>
                  <a:srgbClr val="000000"/>
                </a:solidFill>
                <a:latin typeface="Helvetica Neue"/>
              </a:rPr>
              <a:t>3. Quantitative secondary analysis of AV-Deepfake1M++ (speaker-disjoint split)</a:t>
            </a:r>
            <a:endParaRPr lang="en-US" sz="1700" b="0" dirty="0">
              <a:solidFill>
                <a:srgbClr val="000000"/>
              </a:solidFill>
              <a:latin typeface="Helvetica Neue"/>
            </a:endParaRPr>
          </a:p>
          <a:p>
            <a:pPr marL="0" indent="0" algn="l">
              <a:lnSpc>
                <a:spcPct val="50000"/>
              </a:lnSpc>
              <a:spcBef>
                <a:spcPts val="1800"/>
              </a:spcBef>
              <a:buNone/>
            </a:pPr>
            <a:r>
              <a:rPr lang="en-US" sz="1700" b="0" dirty="0">
                <a:solidFill>
                  <a:srgbClr val="000000"/>
                </a:solidFill>
                <a:latin typeface="Helvetica Neue"/>
              </a:rPr>
              <a:t>	</a:t>
            </a:r>
            <a:r>
              <a:rPr sz="1700" b="0" dirty="0">
                <a:solidFill>
                  <a:srgbClr val="000000"/>
                </a:solidFill>
                <a:latin typeface="Helvetica Neue"/>
              </a:rPr>
              <a:t>4. Design &amp; implement Cross-Modal Transformer Fusion architecture</a:t>
            </a:r>
            <a:endParaRPr lang="en-US" sz="1700" b="0" dirty="0">
              <a:solidFill>
                <a:srgbClr val="000000"/>
              </a:solidFill>
              <a:latin typeface="Helvetica Neue"/>
            </a:endParaRPr>
          </a:p>
          <a:p>
            <a:pPr marL="0" indent="0" algn="l">
              <a:lnSpc>
                <a:spcPct val="50000"/>
              </a:lnSpc>
              <a:spcBef>
                <a:spcPts val="1800"/>
              </a:spcBef>
              <a:buNone/>
            </a:pPr>
            <a:r>
              <a:rPr lang="en-US" sz="1700" b="0" dirty="0">
                <a:solidFill>
                  <a:srgbClr val="000000"/>
                </a:solidFill>
                <a:latin typeface="Helvetica Neue"/>
              </a:rPr>
              <a:t>	</a:t>
            </a:r>
            <a:r>
              <a:rPr sz="1700" b="0" dirty="0">
                <a:solidFill>
                  <a:srgbClr val="000000"/>
                </a:solidFill>
                <a:latin typeface="Helvetica Neue"/>
              </a:rPr>
              <a:t>5. Resumable training pipeline; evaluation on held-out test set</a:t>
            </a:r>
            <a:endParaRPr lang="en-US" sz="1700" b="0" dirty="0">
              <a:solidFill>
                <a:srgbClr val="000000"/>
              </a:solidFill>
              <a:latin typeface="Helvetica Neue"/>
            </a:endParaRPr>
          </a:p>
          <a:p>
            <a:pPr marL="0" indent="0" algn="l">
              <a:lnSpc>
                <a:spcPct val="50000"/>
              </a:lnSpc>
              <a:spcBef>
                <a:spcPts val="1800"/>
              </a:spcBef>
              <a:buNone/>
            </a:pPr>
            <a:r>
              <a:rPr lang="en-US" sz="1700" b="0" dirty="0">
                <a:solidFill>
                  <a:srgbClr val="000000"/>
                </a:solidFill>
                <a:latin typeface="Helvetica Neue"/>
              </a:rPr>
              <a:t>	</a:t>
            </a:r>
            <a:r>
              <a:rPr sz="1700" b="0" dirty="0">
                <a:solidFill>
                  <a:srgbClr val="000000"/>
                </a:solidFill>
                <a:latin typeface="Helvetica Neue"/>
              </a:rPr>
              <a:t>6. Standalone inference system + web interface for non-technical use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b="1" dirty="0">
                <a:solidFill>
                  <a:srgbClr val="1A1A2E"/>
                </a:solidFill>
                <a:latin typeface="Helvetica Neue"/>
              </a:rPr>
              <a:t>Literature Review — 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70C0"/>
                </a:solidFill>
                <a:latin typeface="Helvetica Neue"/>
              </a:rPr>
              <a:t> </a:t>
            </a:r>
            <a:r>
              <a:rPr sz="2000" b="1" dirty="0">
                <a:solidFill>
                  <a:srgbClr val="0070C0"/>
                </a:solidFill>
                <a:latin typeface="Helvetica Neue"/>
              </a:rPr>
              <a:t>Evolution of Deepfakes:</a:t>
            </a:r>
          </a:p>
          <a:p>
            <a:pPr algn="l"/>
            <a:endParaRPr sz="2200" b="1" dirty="0">
              <a:solidFill>
                <a:srgbClr val="0070C0"/>
              </a:solidFill>
              <a:latin typeface="Helvetica Neue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2286000"/>
          <a:ext cx="107899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elvetica Neue"/>
                        </a:rPr>
                        <a:t>Phase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elvetica Neue"/>
                        </a:rPr>
                        <a:t>Era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elvetica Neue"/>
                        </a:rPr>
                        <a:t>Characteristics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Visual Fidelity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2017–2019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Face-swaps via Autoencoders / GANs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In-the-Wild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2019–2021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Multi-subject, uncontrolled environments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Multimodal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  <a:latin typeface="Helvetica Neue"/>
                        </a:rPr>
                        <a:t>2023–2025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  <a:latin typeface="Helvetica Neue"/>
                        </a:rPr>
                        <a:t>Neural generation affecting audio + video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389120"/>
            <a:ext cx="8820043" cy="11849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dirty="0">
                <a:solidFill>
                  <a:srgbClr val="0070C0"/>
                </a:solidFill>
                <a:latin typeface="Helvetica Neue"/>
              </a:rPr>
              <a:t>Three Gaps Identified:</a:t>
            </a:r>
          </a:p>
          <a:p>
            <a:pPr algn="l"/>
            <a:r>
              <a:rPr sz="1700" b="0" dirty="0">
                <a:solidFill>
                  <a:srgbClr val="000000"/>
                </a:solidFill>
                <a:latin typeface="Helvetica Neue"/>
              </a:rPr>
              <a:t>  1. Identity Leakage — Random splits allow face recognition, not manipulation detection</a:t>
            </a:r>
          </a:p>
          <a:p>
            <a:pPr algn="l"/>
            <a:r>
              <a:rPr sz="1700" b="0" dirty="0">
                <a:solidFill>
                  <a:srgbClr val="000000"/>
                </a:solidFill>
                <a:latin typeface="Helvetica Neue"/>
              </a:rPr>
              <a:t>  2. Vision-Centric Bias — Audio is ignored or handled via simple concatenation</a:t>
            </a:r>
          </a:p>
          <a:p>
            <a:pPr algn="l"/>
            <a:r>
              <a:rPr sz="1700" b="0" dirty="0">
                <a:solidFill>
                  <a:srgbClr val="000000"/>
                </a:solidFill>
                <a:latin typeface="Helvetica Neue"/>
              </a:rPr>
              <a:t>  3. Limited </a:t>
            </a:r>
            <a:r>
              <a:rPr sz="1700" b="0" dirty="0" err="1">
                <a:solidFill>
                  <a:srgbClr val="000000"/>
                </a:solidFill>
                <a:latin typeface="Helvetica Neue"/>
              </a:rPr>
              <a:t>Generalisation</a:t>
            </a:r>
            <a:r>
              <a:rPr sz="1700" b="0" dirty="0">
                <a:solidFill>
                  <a:srgbClr val="000000"/>
                </a:solidFill>
                <a:latin typeface="Helvetica Neue"/>
              </a:rPr>
              <a:t> — Detectors overfit to training generators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400C2A63-3CA5-476F-5369-2A95B09C6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34950"/>
            <a:ext cx="11118850" cy="984250"/>
          </a:xfrm>
        </p:spPr>
        <p:txBody>
          <a:bodyPr/>
          <a:lstStyle/>
          <a:p>
            <a:r>
              <a:rPr lang="en-GB" sz="2800" b="1" dirty="0">
                <a:solidFill>
                  <a:srgbClr val="1A1A2E"/>
                </a:solidFill>
              </a:rPr>
              <a:t>Cross-Modal Transformer Fusion — Architecture</a:t>
            </a:r>
            <a:endParaRPr lang="en-US" dirty="0"/>
          </a:p>
        </p:txBody>
      </p:sp>
      <p:pic>
        <p:nvPicPr>
          <p:cNvPr id="5" name="Picture 4" descr="architecture.png">
            <a:extLst>
              <a:ext uri="{FF2B5EF4-FFF2-40B4-BE49-F238E27FC236}">
                <a16:creationId xmlns:a16="http://schemas.microsoft.com/office/drawing/2014/main" id="{F7394D14-C4F0-BF07-D318-445A4D0114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51" b="22167"/>
          <a:stretch>
            <a:fillRect/>
          </a:stretch>
        </p:blipFill>
        <p:spPr>
          <a:xfrm>
            <a:off x="533400" y="1562100"/>
            <a:ext cx="11118850" cy="4408394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FEAB92-0FBF-306E-AE03-2EF74605E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8707" y="6439108"/>
            <a:ext cx="243656" cy="241092"/>
          </a:xfrm>
        </p:spPr>
        <p:txBody>
          <a:bodyPr wrap="none" anchor="b">
            <a:normAutofit/>
          </a:bodyPr>
          <a:lstStyle/>
          <a:p>
            <a:pPr>
              <a:spcAft>
                <a:spcPts val="600"/>
              </a:spcAft>
            </a:pPr>
            <a:fld id="{351B0C85-9CFF-3B42-BE74-68F1856660D0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309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b="1" dirty="0">
                <a:solidFill>
                  <a:srgbClr val="1A1A2E"/>
                </a:solidFill>
                <a:latin typeface="Helvetica Neue"/>
              </a:rPr>
              <a:t>Key Design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828800"/>
          <a:ext cx="107899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elvetica Neue"/>
                        </a:rPr>
                        <a:t>Component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elvetica Neue"/>
                        </a:rPr>
                        <a:t>Initial Plan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elvetica Neue"/>
                        </a:rPr>
                        <a:t>Final Choice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elvetica Neue"/>
                        </a:rPr>
                        <a:t>Reason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Audio Encoder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Wav2Vec 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ResNet18 + Mel-spec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torchaudio/FFmpeg handles corrupted MP4s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Video Encoder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  <a:latin typeface="Helvetica Neue"/>
                        </a:rPr>
                        <a:t>MobileNetV3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ResNet3D-18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3D convolutions for temporal lip-motion artefacts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Fusion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DiMoDif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  <a:latin typeface="Helvetica Neue"/>
                        </a:rPr>
                        <a:t>Transformer + [CLS]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Cross-modal self-attention captures inconsistencies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Loss 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BCE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Focal Loss (γ=2.0)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  <a:latin typeface="Helvetica Neue"/>
                        </a:rPr>
                        <a:t>Down-weights easy examples; focuses on hard boundary cases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76072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dirty="0">
                <a:solidFill>
                  <a:srgbClr val="0070C0"/>
                </a:solidFill>
                <a:latin typeface="Helvetica Neue"/>
              </a:rPr>
              <a:t>Learnable [CLS] token + positional embeddings → 2-layer Transformer Encoder (8 heads, 512-dim, GELU) → Audio / Video / Joint heads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b="1" dirty="0">
                <a:solidFill>
                  <a:srgbClr val="1A1A2E"/>
                </a:solidFill>
                <a:latin typeface="Helvetica Neue"/>
              </a:rPr>
              <a:t>Implementation — Training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</p:txBody>
      </p:sp>
      <p:pic>
        <p:nvPicPr>
          <p:cNvPr id="4" name="Picture 3" descr="two_phase_trai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460" y="1882588"/>
            <a:ext cx="6258186" cy="3512311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5742217"/>
              </p:ext>
            </p:extLst>
          </p:nvPr>
        </p:nvGraphicFramePr>
        <p:xfrm>
          <a:off x="7089289" y="1484555"/>
          <a:ext cx="4562961" cy="47638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4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79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9316"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FFFFFF"/>
                          </a:solidFill>
                          <a:latin typeface="Helvetica Neue"/>
                        </a:rPr>
                        <a:t>Setting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elvetica Neue"/>
                        </a:rPr>
                        <a:t>Value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316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  <a:latin typeface="Helvetica Neue"/>
                        </a:rPr>
                        <a:t>68,851 clips (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  <a:latin typeface="Helvetica Neue"/>
                        </a:rPr>
                        <a:t>val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  <a:latin typeface="Helvetica Neue"/>
                        </a:rPr>
                        <a:t> split); 4 types; 8,475 dropped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316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Phase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Frozen encoders (~2 epochs)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9316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Phase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Full fine-tune at 10× lower LR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9316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Optimiser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AdamW (fusion: 1e-4, encoders: 1e-5)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9316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Batch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8 per GPU (×2 with DataParallel)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9316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Infrastructure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Vast.ai (2× RTX 3080); W&amp;B tracking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9316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Augmentation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SpecAugment + flip/brightness/contrast jitter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9316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Workers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  <a:latin typeface="Helvetica Neue"/>
                        </a:rPr>
                        <a:t>28 CPU parallel extraction, crash-resumable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solidFill>
                  <a:srgbClr val="1A1A2E"/>
                </a:solidFill>
                <a:latin typeface="Helvetica Neue"/>
              </a:rPr>
              <a:t>Results — Training History &amp; Per-Type Accuracy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</p:txBody>
      </p:sp>
      <p:pic>
        <p:nvPicPr>
          <p:cNvPr id="5" name="Picture 4" descr="per_type_accuracy_bar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4266" y="2169009"/>
            <a:ext cx="5226473" cy="3472481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6248180"/>
              </p:ext>
            </p:extLst>
          </p:nvPr>
        </p:nvGraphicFramePr>
        <p:xfrm>
          <a:off x="539752" y="2614107"/>
          <a:ext cx="5663004" cy="29475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41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94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88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88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88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427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28380"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FFFFFF"/>
                          </a:solidFill>
                          <a:latin typeface="Helvetica Neue"/>
                        </a:rPr>
                        <a:t>Model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elvetica Neue"/>
                        </a:rPr>
                        <a:t>Ep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FFFFFF"/>
                          </a:solidFill>
                          <a:latin typeface="Helvetica Neue"/>
                        </a:rPr>
                        <a:t>Val AUC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elvetica Neue"/>
                        </a:rPr>
                        <a:t>Test AUC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elvetica Neue"/>
                        </a:rPr>
                        <a:t>Test Acc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FFFFFF"/>
                          </a:solidFill>
                          <a:latin typeface="Helvetica Neue"/>
                        </a:rPr>
                        <a:t>Notes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9106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M1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0.663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Underfit; corrupted download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19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M2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0.994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0.919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66%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  <a:latin typeface="Helvetica Neue"/>
                        </a:rPr>
                        <a:t>Highest </a:t>
                      </a:r>
                      <a:r>
                        <a:rPr sz="1200" b="0" dirty="0" err="1">
                          <a:solidFill>
                            <a:srgbClr val="1A1A2E"/>
                          </a:solidFill>
                          <a:latin typeface="Helvetica Neue"/>
                        </a:rPr>
                        <a:t>val</a:t>
                      </a:r>
                      <a:r>
                        <a:rPr sz="1200" b="0" dirty="0">
                          <a:solidFill>
                            <a:srgbClr val="1A1A2E"/>
                          </a:solidFill>
                          <a:latin typeface="Helvetica Neue"/>
                        </a:rPr>
                        <a:t> AUC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9106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M3 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0.985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0.937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  <a:latin typeface="Helvetica Neue"/>
                        </a:rPr>
                        <a:t>93%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  <a:latin typeface="Helvetica Neue"/>
                        </a:rPr>
                        <a:t>Best: Precision 1.000, 0 FP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9106"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  <a:latin typeface="Helvetica Neue"/>
                        </a:rPr>
                        <a:t>M4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0.993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  <a:latin typeface="Helvetica Neue"/>
                        </a:rPr>
                        <a:t>0.915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  <a:latin typeface="Helvetica Neue"/>
                        </a:rPr>
                        <a:t>Same run as M3, epoch 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977CA0EC-8316-EBEE-8FA7-3CF915A70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34950"/>
            <a:ext cx="11118850" cy="984250"/>
          </a:xfrm>
        </p:spPr>
        <p:txBody>
          <a:bodyPr>
            <a:normAutofit/>
          </a:bodyPr>
          <a:lstStyle/>
          <a:p>
            <a:r>
              <a:rPr lang="en-GB" sz="3200" b="1" dirty="0">
                <a:solidFill>
                  <a:srgbClr val="1A1A2E"/>
                </a:solidFill>
              </a:rPr>
              <a:t>Results — Training History &amp; Per-Type Accuracy</a:t>
            </a:r>
            <a:endParaRPr lang="en-US" sz="3200" dirty="0"/>
          </a:p>
        </p:txBody>
      </p:sp>
      <p:pic>
        <p:nvPicPr>
          <p:cNvPr id="5" name="Content Placeholder 4" descr="training_history.png">
            <a:extLst>
              <a:ext uri="{FF2B5EF4-FFF2-40B4-BE49-F238E27FC236}">
                <a16:creationId xmlns:a16="http://schemas.microsoft.com/office/drawing/2014/main" id="{5C6404CB-48DA-4830-16FE-ABC970A4AC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3400" y="2181829"/>
            <a:ext cx="11118850" cy="3446841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80858F-65AF-CD8D-B74C-8DBD47F08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8707" y="6439108"/>
            <a:ext cx="243656" cy="241092"/>
          </a:xfrm>
        </p:spPr>
        <p:txBody>
          <a:bodyPr wrap="none" anchor="b">
            <a:normAutofit/>
          </a:bodyPr>
          <a:lstStyle/>
          <a:p>
            <a:pPr>
              <a:spcAft>
                <a:spcPts val="600"/>
              </a:spcAft>
            </a:pPr>
            <a:fld id="{351B0C85-9CFF-3B42-BE74-68F1856660D0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1225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solidFill>
                  <a:srgbClr val="1A1A2E"/>
                </a:solidFill>
                <a:latin typeface="Helvetica Neue"/>
              </a:rPr>
              <a:t>Model Comparison &amp; Score Calibration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5" name="Picture 4" descr="calibration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7059" y="1531620"/>
            <a:ext cx="7941410" cy="2560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931920"/>
            <a:ext cx="11226150" cy="22313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dirty="0">
                <a:solidFill>
                  <a:srgbClr val="0070C0"/>
                </a:solidFill>
                <a:latin typeface="Helvetica Neue"/>
              </a:rPr>
              <a:t>Key Finding:</a:t>
            </a:r>
          </a:p>
          <a:p>
            <a:pPr algn="l"/>
            <a:r>
              <a:rPr sz="1800" b="1" dirty="0">
                <a:solidFill>
                  <a:srgbClr val="1A1A2E"/>
                </a:solidFill>
                <a:latin typeface="Helvetica Neue"/>
              </a:rPr>
              <a:t>Higher validation AUC does NOT equal better deployment performance.</a:t>
            </a:r>
          </a:p>
          <a:p>
            <a:pPr algn="l"/>
            <a:endParaRPr sz="2000" b="1" dirty="0">
              <a:solidFill>
                <a:srgbClr val="1A1A2E"/>
              </a:solidFill>
              <a:latin typeface="Helvetica Neue"/>
            </a:endParaRPr>
          </a:p>
          <a:p>
            <a:pPr algn="l"/>
            <a:r>
              <a:rPr sz="1600" b="0" dirty="0">
                <a:solidFill>
                  <a:srgbClr val="000000"/>
                </a:solidFill>
                <a:latin typeface="Helvetica Neue"/>
              </a:rPr>
              <a:t>• Model 2 (AUC 0.994) → 66% accuracy at </a:t>
            </a:r>
            <a:r>
              <a:rPr sz="1600" b="0" dirty="0" err="1">
                <a:solidFill>
                  <a:srgbClr val="000000"/>
                </a:solidFill>
                <a:latin typeface="Helvetica Neue"/>
              </a:rPr>
              <a:t>τ</a:t>
            </a:r>
            <a:r>
              <a:rPr sz="1600" b="0" dirty="0">
                <a:solidFill>
                  <a:srgbClr val="000000"/>
                </a:solidFill>
                <a:latin typeface="Helvetica Neue"/>
              </a:rPr>
              <a:t>=0.5 (poorly calibrated scores near boundary)</a:t>
            </a:r>
          </a:p>
          <a:p>
            <a:pPr algn="l"/>
            <a:r>
              <a:rPr sz="1600" b="0" dirty="0">
                <a:solidFill>
                  <a:srgbClr val="000000"/>
                </a:solidFill>
                <a:latin typeface="Helvetica Neue"/>
              </a:rPr>
              <a:t>• Model 3 (AUC 0.985) → 93% accuracy at </a:t>
            </a:r>
            <a:r>
              <a:rPr sz="1600" b="0" dirty="0" err="1">
                <a:solidFill>
                  <a:srgbClr val="000000"/>
                </a:solidFill>
                <a:latin typeface="Helvetica Neue"/>
              </a:rPr>
              <a:t>τ</a:t>
            </a:r>
            <a:r>
              <a:rPr sz="1600" b="0" dirty="0">
                <a:solidFill>
                  <a:srgbClr val="000000"/>
                </a:solidFill>
                <a:latin typeface="Helvetica Neue"/>
              </a:rPr>
              <a:t>=0.5 (well-separated scores, zero false positives)</a:t>
            </a:r>
          </a:p>
          <a:p>
            <a:pPr algn="l"/>
            <a:endParaRPr sz="1600" b="0" dirty="0">
              <a:solidFill>
                <a:srgbClr val="000000"/>
              </a:solidFill>
              <a:latin typeface="Helvetica Neue"/>
            </a:endParaRPr>
          </a:p>
          <a:p>
            <a:pPr algn="l"/>
            <a:r>
              <a:rPr sz="1600" b="0" dirty="0">
                <a:solidFill>
                  <a:srgbClr val="000000"/>
                </a:solidFill>
                <a:latin typeface="Helvetica Neue"/>
              </a:rPr>
              <a:t>Calibration curves show Model 3 has near-perfect score alignment — predicted probabilities match observed outcomes.</a:t>
            </a:r>
          </a:p>
          <a:p>
            <a:pPr algn="l"/>
            <a:r>
              <a:rPr sz="1500" b="0" dirty="0">
                <a:solidFill>
                  <a:srgbClr val="1A1A2E"/>
                </a:solidFill>
                <a:latin typeface="Helvetica Neue"/>
              </a:rPr>
              <a:t>Audio-modified is hardest type (88%) — genuine video counteracts audio head's fake signal.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22FD1708-5558-E644-79FC-91A50D56F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34950"/>
            <a:ext cx="11118850" cy="984250"/>
          </a:xfrm>
        </p:spPr>
        <p:txBody>
          <a:bodyPr/>
          <a:lstStyle/>
          <a:p>
            <a:r>
              <a:rPr lang="en-GB" sz="2800" b="1" dirty="0">
                <a:solidFill>
                  <a:srgbClr val="1A1A2E"/>
                </a:solidFill>
              </a:rPr>
              <a:t>Model Comparison &amp; Score Calibration</a:t>
            </a:r>
            <a:endParaRPr lang="en-US" dirty="0"/>
          </a:p>
        </p:txBody>
      </p:sp>
      <p:pic>
        <p:nvPicPr>
          <p:cNvPr id="5" name="Content Placeholder 4" descr="model_comparison.png">
            <a:extLst>
              <a:ext uri="{FF2B5EF4-FFF2-40B4-BE49-F238E27FC236}">
                <a16:creationId xmlns:a16="http://schemas.microsoft.com/office/drawing/2014/main" id="{7480C92B-69C6-8AFC-5B81-A25C24A2E8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1261" b="50595"/>
          <a:stretch>
            <a:fillRect/>
          </a:stretch>
        </p:blipFill>
        <p:spPr>
          <a:xfrm>
            <a:off x="533400" y="1562100"/>
            <a:ext cx="11118850" cy="4686300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56F751-AA9E-F7B4-6462-94D19365E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8707" y="6439108"/>
            <a:ext cx="243656" cy="241092"/>
          </a:xfrm>
        </p:spPr>
        <p:txBody>
          <a:bodyPr wrap="none" anchor="b">
            <a:normAutofit/>
          </a:bodyPr>
          <a:lstStyle/>
          <a:p>
            <a:pPr>
              <a:spcAft>
                <a:spcPts val="600"/>
              </a:spcAft>
            </a:pPr>
            <a:fld id="{351B0C85-9CFF-3B42-BE74-68F1856660D0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9881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b="1" dirty="0">
                <a:solidFill>
                  <a:srgbClr val="1A1A2E"/>
                </a:solidFill>
                <a:latin typeface="Helvetica Neue"/>
              </a:rP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70C0"/>
                </a:solidFill>
                <a:latin typeface="Helvetica Neue"/>
              </a:rPr>
              <a:t>	</a:t>
            </a:r>
            <a:r>
              <a:rPr sz="1800" b="1" dirty="0">
                <a:solidFill>
                  <a:srgbClr val="0070C0"/>
                </a:solidFill>
                <a:latin typeface="Helvetica Neue"/>
              </a:rPr>
              <a:t>1. Phase 2 fine-tuning is essential</a:t>
            </a:r>
            <a:r>
              <a:rPr lang="en-US" sz="1800" b="1" dirty="0">
                <a:solidFill>
                  <a:srgbClr val="0070C0"/>
                </a:solidFill>
                <a:latin typeface="Helvetica Neue"/>
              </a:rPr>
              <a:t>: </a:t>
            </a:r>
            <a:r>
              <a:rPr sz="1800" b="0" dirty="0">
                <a:solidFill>
                  <a:srgbClr val="000000"/>
                </a:solidFill>
                <a:latin typeface="Helvetica Neue"/>
              </a:rPr>
              <a:t>Phase 1 only (Model 1): AUC 0.663. All Phase-2 models: ≥ 0.915 </a:t>
            </a:r>
            <a:r>
              <a:rPr lang="en-US" sz="1800" b="0" dirty="0">
                <a:solidFill>
                  <a:srgbClr val="000000"/>
                </a:solidFill>
                <a:latin typeface="Helvetica Neue"/>
              </a:rPr>
              <a:t>	</a:t>
            </a:r>
            <a:r>
              <a:rPr sz="1800" b="0" dirty="0">
                <a:solidFill>
                  <a:srgbClr val="000000"/>
                </a:solidFill>
                <a:latin typeface="Helvetica Neue"/>
              </a:rPr>
              <a:t>test AUC. Cross-modal representations require encoder adaptation.</a:t>
            </a:r>
            <a:endParaRPr lang="en-US" sz="1800" b="0" dirty="0">
              <a:solidFill>
                <a:srgbClr val="000000"/>
              </a:solidFill>
              <a:latin typeface="Helvetica Neue"/>
            </a:endParaRPr>
          </a:p>
          <a:p>
            <a:pPr marL="0" indent="0" algn="l">
              <a:buNone/>
            </a:pPr>
            <a:r>
              <a:rPr lang="en-US" sz="1800" b="1" dirty="0">
                <a:solidFill>
                  <a:srgbClr val="0070C0"/>
                </a:solidFill>
                <a:latin typeface="Helvetica Neue"/>
              </a:rPr>
              <a:t>	</a:t>
            </a:r>
            <a:r>
              <a:rPr sz="1800" b="1" dirty="0">
                <a:solidFill>
                  <a:srgbClr val="0070C0"/>
                </a:solidFill>
                <a:latin typeface="Helvetica Neue"/>
              </a:rPr>
              <a:t>2. Validation AUC ≠ deployment performance</a:t>
            </a:r>
            <a:r>
              <a:rPr lang="en-US" sz="1800" b="1" dirty="0">
                <a:solidFill>
                  <a:srgbClr val="0070C0"/>
                </a:solidFill>
                <a:latin typeface="Helvetica Neue"/>
              </a:rPr>
              <a:t>: </a:t>
            </a:r>
            <a:r>
              <a:rPr sz="1800" b="0" dirty="0">
                <a:solidFill>
                  <a:srgbClr val="000000"/>
                </a:solidFill>
                <a:latin typeface="Helvetica Neue"/>
              </a:rPr>
              <a:t>Model 2 (AUC 0.994) → 66% accuracy. Model 3 (AUC </a:t>
            </a:r>
            <a:r>
              <a:rPr lang="en-US" sz="1800" b="0" dirty="0">
                <a:solidFill>
                  <a:srgbClr val="000000"/>
                </a:solidFill>
                <a:latin typeface="Helvetica Neue"/>
              </a:rPr>
              <a:t>	</a:t>
            </a:r>
            <a:r>
              <a:rPr sz="1800" b="0" dirty="0">
                <a:solidFill>
                  <a:srgbClr val="000000"/>
                </a:solidFill>
                <a:latin typeface="Helvetica Neue"/>
              </a:rPr>
              <a:t>0.985) → 93% accuracy. Score calibration determines real-world readiness.</a:t>
            </a:r>
            <a:endParaRPr lang="en-US" sz="1800" dirty="0">
              <a:solidFill>
                <a:srgbClr val="000000"/>
              </a:solidFill>
              <a:latin typeface="Helvetica Neue"/>
            </a:endParaRPr>
          </a:p>
          <a:p>
            <a:pPr marL="0" indent="0" algn="l">
              <a:buNone/>
            </a:pPr>
            <a:r>
              <a:rPr lang="en-GB" sz="1800" b="1" dirty="0">
                <a:solidFill>
                  <a:srgbClr val="000000"/>
                </a:solidFill>
                <a:latin typeface="Helvetica Neue"/>
              </a:rPr>
              <a:t>	</a:t>
            </a:r>
            <a:r>
              <a:rPr sz="1800" b="1" dirty="0">
                <a:solidFill>
                  <a:srgbClr val="0070C0"/>
                </a:solidFill>
                <a:latin typeface="Helvetica Neue"/>
              </a:rPr>
              <a:t>3. Three-head architecture provides genuine modality </a:t>
            </a:r>
            <a:r>
              <a:rPr sz="1800" b="1" dirty="0" err="1">
                <a:solidFill>
                  <a:srgbClr val="0070C0"/>
                </a:solidFill>
                <a:latin typeface="Helvetica Neue"/>
              </a:rPr>
              <a:t>speciali</a:t>
            </a:r>
            <a:r>
              <a:rPr lang="en-GB" sz="1800" b="1" dirty="0">
                <a:solidFill>
                  <a:srgbClr val="0070C0"/>
                </a:solidFill>
                <a:latin typeface="Helvetica Neue"/>
              </a:rPr>
              <a:t>s</a:t>
            </a:r>
            <a:r>
              <a:rPr sz="1800" b="1" dirty="0" err="1">
                <a:solidFill>
                  <a:srgbClr val="0070C0"/>
                </a:solidFill>
                <a:latin typeface="Helvetica Neue"/>
              </a:rPr>
              <a:t>ation</a:t>
            </a:r>
            <a:r>
              <a:rPr lang="en-US" sz="1800" b="1" dirty="0">
                <a:solidFill>
                  <a:srgbClr val="0070C0"/>
                </a:solidFill>
                <a:latin typeface="Helvetica Neue"/>
              </a:rPr>
              <a:t>: </a:t>
            </a:r>
            <a:r>
              <a:rPr sz="1800" b="0" dirty="0">
                <a:solidFill>
                  <a:srgbClr val="000000"/>
                </a:solidFill>
                <a:latin typeface="Helvetica Neue"/>
              </a:rPr>
              <a:t>Audio/video scores dissociate </a:t>
            </a:r>
            <a:r>
              <a:rPr lang="en-US" sz="1800" b="0" dirty="0">
                <a:solidFill>
                  <a:srgbClr val="000000"/>
                </a:solidFill>
                <a:latin typeface="Helvetica Neue"/>
              </a:rPr>
              <a:t>	</a:t>
            </a:r>
            <a:r>
              <a:rPr sz="1800" b="0" dirty="0">
                <a:solidFill>
                  <a:srgbClr val="000000"/>
                </a:solidFill>
                <a:latin typeface="Helvetica Neue"/>
              </a:rPr>
              <a:t>by manipulation type as predicted. Per-modality interpretability for forensic analysis.</a:t>
            </a:r>
          </a:p>
          <a:p>
            <a:pPr marL="0" indent="0" algn="l">
              <a:buNone/>
            </a:pPr>
            <a:r>
              <a:rPr lang="en-US" sz="1800" b="1" dirty="0">
                <a:solidFill>
                  <a:srgbClr val="0070C0"/>
                </a:solidFill>
                <a:latin typeface="Helvetica Neue"/>
              </a:rPr>
              <a:t>	</a:t>
            </a:r>
            <a:r>
              <a:rPr sz="1800" b="1" dirty="0">
                <a:solidFill>
                  <a:srgbClr val="0070C0"/>
                </a:solidFill>
                <a:latin typeface="Helvetica Neue"/>
              </a:rPr>
              <a:t>4. Speaker-disjoint evaluation is critical</a:t>
            </a:r>
            <a:r>
              <a:rPr lang="en-US" sz="1800" b="1" dirty="0">
                <a:solidFill>
                  <a:srgbClr val="0070C0"/>
                </a:solidFill>
                <a:latin typeface="Helvetica Neue"/>
              </a:rPr>
              <a:t>: </a:t>
            </a:r>
            <a:r>
              <a:rPr sz="1800" b="0" dirty="0" err="1">
                <a:solidFill>
                  <a:srgbClr val="000000"/>
                </a:solidFill>
                <a:latin typeface="Helvetica Neue"/>
              </a:rPr>
              <a:t>GroupShuffleSplit</a:t>
            </a:r>
            <a:r>
              <a:rPr sz="1800" b="0" dirty="0">
                <a:solidFill>
                  <a:srgbClr val="000000"/>
                </a:solidFill>
                <a:latin typeface="Helvetica Neue"/>
              </a:rPr>
              <a:t> ensures zero speaker overlap → results </a:t>
            </a:r>
            <a:r>
              <a:rPr lang="en-US" sz="1800" b="0" dirty="0">
                <a:solidFill>
                  <a:srgbClr val="000000"/>
                </a:solidFill>
                <a:latin typeface="Helvetica Neue"/>
              </a:rPr>
              <a:t>	</a:t>
            </a:r>
            <a:r>
              <a:rPr sz="1800" b="0" dirty="0">
                <a:solidFill>
                  <a:srgbClr val="000000"/>
                </a:solidFill>
                <a:latin typeface="Helvetica Neue"/>
              </a:rPr>
              <a:t>reflect manipulation detection, not identity recognition.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1A1A2E"/>
                </a:solidFill>
                <a:latin typeface="Helvetica Neue"/>
              </a:rP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2604065"/>
              </p:ext>
            </p:extLst>
          </p:nvPr>
        </p:nvGraphicFramePr>
        <p:xfrm>
          <a:off x="796066" y="1721224"/>
          <a:ext cx="10574767" cy="434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688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0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0870"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FFFFFF"/>
                          </a:solidFill>
                          <a:latin typeface="Helvetica Neue"/>
                        </a:rPr>
                        <a:t>Limitation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elvetica Neue"/>
                        </a:rPr>
                        <a:t>Impact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087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100-video test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1 misclassification = 1% accuracy shift; wide confidence intervals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087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Validation split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68,851 clips vs 1M+ in full training set; limited diversity exposure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087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No ablation study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Cannot attribute performance to specific components (Focal Loss, Transformer, etc.)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087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Fixed 2-second window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May miss manipulation in short, late, or distributed segments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087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Single 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No cross-dataset evaluation (FakeAVCeleb, DFDC, FaceForensics++)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087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Helvetica Neue"/>
                        </a:rPr>
                        <a:t>5-epoch training cap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  <a:latin typeface="Helvetica Neue"/>
                        </a:rPr>
                        <a:t>Cloud GPU budget prevented full convergence and hyperparameter sweeps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3D25A-C7BE-B7A9-04E7-1DF6D816D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387736"/>
            <a:ext cx="11118850" cy="2237592"/>
          </a:xfrm>
        </p:spPr>
        <p:txBody>
          <a:bodyPr>
            <a:normAutofit/>
          </a:bodyPr>
          <a:lstStyle/>
          <a:p>
            <a:r>
              <a:rPr lang="en-US" sz="4400" b="1" dirty="0"/>
              <a:t>										Thank You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EFBEA4-BB71-9724-859A-04BB15F4D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B0C85-9CFF-3B42-BE74-68F1856660D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147372"/>
      </p:ext>
    </p:extLst>
  </p:cSld>
  <p:clrMapOvr>
    <a:masterClrMapping/>
  </p:clrMapOvr>
</p:sld>
</file>

<file path=ppt/theme/theme1.xml><?xml version="1.0" encoding="utf-8"?>
<a:theme xmlns:a="http://schemas.openxmlformats.org/drawingml/2006/main" name="ModernPortfolio">
  <a:themeElements>
    <a:clrScheme name="ModernPortfolio">
      <a:dk1>
        <a:srgbClr val="000000"/>
      </a:dk1>
      <a:lt1>
        <a:srgbClr val="FFFFFF"/>
      </a:lt1>
      <a:dk2>
        <a:srgbClr val="5C5C5C"/>
      </a:dk2>
      <a:lt2>
        <a:srgbClr val="CBCBCB"/>
      </a:lt2>
      <a:accent1>
        <a:srgbClr val="557E8A"/>
      </a:accent1>
      <a:accent2>
        <a:srgbClr val="88885A"/>
      </a:accent2>
      <a:accent3>
        <a:srgbClr val="B29E85"/>
      </a:accent3>
      <a:accent4>
        <a:srgbClr val="BB7B52"/>
      </a:accent4>
      <a:accent5>
        <a:srgbClr val="CF7F66"/>
      </a:accent5>
      <a:accent6>
        <a:srgbClr val="62647B"/>
      </a:accent6>
      <a:hlink>
        <a:srgbClr val="0000FF"/>
      </a:hlink>
      <a:folHlink>
        <a:srgbClr val="FF00FF"/>
      </a:folHlink>
    </a:clrScheme>
    <a:fontScheme name="ModernPortfolio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ModernPortfol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12166"/>
            <a:lumOff val="-13042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rgbClr val="ABABAB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Welcoming Message CN6103</Template>
  <TotalTime>138</TotalTime>
  <Words>915</Words>
  <Application>Microsoft Macintosh PowerPoint</Application>
  <PresentationFormat>Widescreen</PresentationFormat>
  <Paragraphs>153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Calibri</vt:lpstr>
      <vt:lpstr>Helvetica Neue</vt:lpstr>
      <vt:lpstr>ModernPortfolio</vt:lpstr>
      <vt:lpstr>Viva: Deepfake Detection Using Cross-Model Transformer Fusion</vt:lpstr>
      <vt:lpstr>The Problem — Why Deepfake Detection Matters</vt:lpstr>
      <vt:lpstr>Project Aims &amp; Objectives</vt:lpstr>
      <vt:lpstr>Literature Review — Key Findings</vt:lpstr>
      <vt:lpstr>Cross-Modal Transformer Fusion — Architecture</vt:lpstr>
      <vt:lpstr>Key Design Decisions</vt:lpstr>
      <vt:lpstr>Implementation — Training Pipeline</vt:lpstr>
      <vt:lpstr>Results — Training History &amp; Per-Type Accuracy</vt:lpstr>
      <vt:lpstr>Results — Training History &amp; Per-Type Accuracy</vt:lpstr>
      <vt:lpstr>Model Comparison &amp; Score Calibration</vt:lpstr>
      <vt:lpstr>Model Comparison &amp; Score Calibration</vt:lpstr>
      <vt:lpstr>Key Findings</vt:lpstr>
      <vt:lpstr>Limitations</vt:lpstr>
      <vt:lpstr>       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Usman Naeem</dc:creator>
  <cp:lastModifiedBy>Jasmi Preethi ALASAPURI</cp:lastModifiedBy>
  <cp:revision>20</cp:revision>
  <dcterms:created xsi:type="dcterms:W3CDTF">2015-11-09T21:30:07Z</dcterms:created>
  <dcterms:modified xsi:type="dcterms:W3CDTF">2026-05-13T19:43:01Z</dcterms:modified>
</cp:coreProperties>
</file>